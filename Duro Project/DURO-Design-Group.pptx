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0.xml"/><Relationship Id="rId1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618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DURO Design Group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361367"/>
            <a:ext cx="34495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Website Design Proposal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0558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Two-Tier Modern Web Package — Next.js + AI-Enabled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116836" y="3673912"/>
            <a:ext cx="3828217" cy="2993708"/>
          </a:xfrm>
          <a:prstGeom prst="roundRect">
            <a:avLst>
              <a:gd name="adj" fmla="val 5455"/>
            </a:avLst>
          </a:prstGeom>
          <a:solidFill>
            <a:srgbClr val="E32119"/>
          </a:solidFill>
          <a:ln/>
        </p:spPr>
      </p:sp>
      <p:sp>
        <p:nvSpPr>
          <p:cNvPr id="7" name="Text 4"/>
          <p:cNvSpPr/>
          <p:nvPr/>
        </p:nvSpPr>
        <p:spPr>
          <a:xfrm>
            <a:off x="6343650" y="3900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Starting at $3,500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343650" y="4481870"/>
            <a:ext cx="3374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~75% off standard agency rates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387798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Livingstone Solution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April 2026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480786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— For DURO Leadership Only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573774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build ships within 7 weeks or less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496253"/>
            <a:ext cx="3898583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Digital Gap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935123" y="1197769"/>
            <a:ext cx="10760035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DURO is a credible, award-winning A+E firm with a real portfolio —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Eastern Market, Walter Pierce Park, Thurgood Marshall Center, African American Civil War Museum, Harbor Bank of Maryland HQ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and the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ULI Wavemaker Award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68962" y="1859994"/>
            <a:ext cx="10526197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it is visible online today.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35123" y="1739384"/>
            <a:ext cx="22860" cy="459343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935123" y="2359462"/>
            <a:ext cx="207525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DURO Digital Maturity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35123" y="2841665"/>
            <a:ext cx="10760035" cy="51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0.5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6340435" y="3514487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 of 10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35123" y="3822383"/>
            <a:ext cx="1076003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DURO's current digital 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35123" y="4193619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Competitor Range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35123" y="4597956"/>
            <a:ext cx="10760035" cy="954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EHT Traceries: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6.0 / 10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Hickok Cole: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9.0 / 10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direct peer has a working website — DURO is the outlier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Procurement officers at DGS, DDOT, DC Water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find DURO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they 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35123" y="5713214"/>
            <a:ext cx="312300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 Objectives for the Website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123" y="6117550"/>
            <a:ext cx="3586639" cy="6237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090976" y="6848475"/>
            <a:ext cx="241804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Make DURO Discoverable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090976" y="7156371"/>
            <a:ext cx="327493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on Google and AI search engines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762" y="6117550"/>
            <a:ext cx="3586639" cy="6237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77614" y="6848475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Tell the A+E Story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677614" y="7156371"/>
            <a:ext cx="3274933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Showcase the integrated architecture and engineering portfolio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400" y="6117550"/>
            <a:ext cx="3586639" cy="6237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64253" y="6848475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Rank Everywhere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264253" y="7156371"/>
            <a:ext cx="3274933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AND AI search — ChatGPT, Perplexity, Claude, Gemini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720566"/>
            <a:ext cx="6173867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Stack — Next.js + 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376" y="1735455"/>
            <a:ext cx="1319164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build on a modern web stack.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WordPress. No Webflow.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DMV competitor runs on outdated templates — DURO will be the most technically capable architecture-firm website in the DMV.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9376" y="2758202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Framework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9376" y="3288863"/>
            <a:ext cx="3079433" cy="1912144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516" y="3288863"/>
            <a:ext cx="91440" cy="1912144"/>
          </a:xfrm>
          <a:prstGeom prst="roundRect">
            <a:avLst>
              <a:gd name="adj" fmla="val 94419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1016317" y="3517225"/>
            <a:ext cx="2554129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Next.js 14 + TypeScript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317" y="4345662"/>
            <a:ext cx="255412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framework behind Notion, TikTok, OpenAI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85022" y="3288863"/>
            <a:ext cx="3079433" cy="1912144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62162" y="3288863"/>
            <a:ext cx="91440" cy="1912144"/>
          </a:xfrm>
          <a:prstGeom prst="roundRect">
            <a:avLst>
              <a:gd name="adj" fmla="val 94419"/>
            </a:avLst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4281964" y="3517225"/>
            <a:ext cx="2554129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Tailwind CSS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81964" y="4024551"/>
            <a:ext cx="255412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Design-system-first styling, brand-consistent everywhere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9376" y="5387221"/>
            <a:ext cx="3079433" cy="1912144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6516" y="5387221"/>
            <a:ext cx="91440" cy="1912144"/>
          </a:xfrm>
          <a:prstGeom prst="roundRect">
            <a:avLst>
              <a:gd name="adj" fmla="val 94419"/>
            </a:avLst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317" y="5615583"/>
            <a:ext cx="2554129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Headless CMS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16317" y="6122908"/>
            <a:ext cx="255412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Payload or Sanity — DURO's team edits content, no code required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85022" y="5387221"/>
            <a:ext cx="3079433" cy="1912144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2162" y="5387221"/>
            <a:ext cx="91440" cy="1912144"/>
          </a:xfrm>
          <a:prstGeom prst="roundRect">
            <a:avLst>
              <a:gd name="adj" fmla="val 94419"/>
            </a:avLst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4281964" y="5615583"/>
            <a:ext cx="2554129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Vercel + Edge Network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281964" y="6444020"/>
            <a:ext cx="255412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Sub-second load times globally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73566" y="2758202"/>
            <a:ext cx="343757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Matters for DURO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73566" y="3265527"/>
            <a:ext cx="6345079" cy="201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DMV peer we benchmarked runs on WordPress or off-the-shelf platforms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stack is future-proof — when DURO wants to add features later, we add modules, never rebuild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from day one — GEO and advanced features require a modern JavaScript stack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73566" y="5486281"/>
            <a:ext cx="6345079" cy="1134904"/>
          </a:xfrm>
          <a:prstGeom prst="roundRect">
            <a:avLst>
              <a:gd name="adj" fmla="val 7607"/>
            </a:avLst>
          </a:prstGeom>
          <a:solidFill>
            <a:srgbClr val="B6D6FC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068" y="5791795"/>
            <a:ext cx="256937" cy="20550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41506" y="5723811"/>
            <a:ext cx="5471636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and AI features are effectively impossible on WordPress — they require this stack.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512326"/>
            <a:ext cx="460569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Two Tiers — At a Glance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935123" y="1213842"/>
            <a:ext cx="10760035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tier is self-contained. Start at Tier 1, upgrade to Tier 2 later without rebuilding.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discount is intentional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DURO is our showcase client, we reuse our component system, and the long-term relationship lives in the $159/mo partnership retainer.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935123" y="1755458"/>
            <a:ext cx="1608653" cy="269319"/>
          </a:xfrm>
          <a:prstGeom prst="roundRect">
            <a:avLst>
              <a:gd name="adj" fmla="val 19455"/>
            </a:avLst>
          </a:pr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2028587" y="1802130"/>
            <a:ext cx="1421725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Selected by DURO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935123" y="2067639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Essential Presence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35123" y="2471976"/>
            <a:ext cx="1076003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credible online footprint, fast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35123" y="2842022"/>
            <a:ext cx="10760035" cy="11668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935123" y="3091101"/>
            <a:ext cx="10760035" cy="51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$3,500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6340435" y="3763923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DURO Price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35123" y="4071818"/>
            <a:ext cx="1076003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Rate: $10,000 – $15,000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35123" y="4402931"/>
            <a:ext cx="1115258" cy="261699"/>
          </a:xfrm>
          <a:prstGeom prst="roundRect">
            <a:avLst>
              <a:gd name="adj" fmla="val 20022"/>
            </a:avLst>
          </a:prstGeom>
          <a:solidFill>
            <a:srgbClr val="DADBF1"/>
          </a:solidFill>
          <a:ln/>
        </p:spPr>
      </p:sp>
      <p:sp>
        <p:nvSpPr>
          <p:cNvPr id="13" name="Text 11"/>
          <p:cNvSpPr/>
          <p:nvPr/>
        </p:nvSpPr>
        <p:spPr>
          <a:xfrm>
            <a:off x="2028587" y="4449604"/>
            <a:ext cx="928330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~70% SAVINGS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35123" y="4785241"/>
            <a:ext cx="582454" cy="276939"/>
          </a:xfrm>
          <a:prstGeom prst="roundRect">
            <a:avLst>
              <a:gd name="adj" fmla="val 18920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6207" y="4839533"/>
            <a:ext cx="380286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35123" y="5105043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Competitive Parity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35123" y="5509379"/>
            <a:ext cx="1076003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EHT Traceries + Bell with AI search visibility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35123" y="5879425"/>
            <a:ext cx="10760035" cy="11668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935123" y="6128504"/>
            <a:ext cx="10760035" cy="51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$6,400</a:t>
            </a:r>
            <a:endParaRPr lang="en-US" sz="4050" dirty="0"/>
          </a:p>
        </p:txBody>
      </p:sp>
      <p:sp>
        <p:nvSpPr>
          <p:cNvPr id="20" name="Text 18"/>
          <p:cNvSpPr/>
          <p:nvPr/>
        </p:nvSpPr>
        <p:spPr>
          <a:xfrm>
            <a:off x="6340435" y="6801326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DURO Price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935123" y="7109222"/>
            <a:ext cx="1076003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Rate: $22,000 – $32,000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35123" y="7440335"/>
            <a:ext cx="1126450" cy="276939"/>
          </a:xfrm>
          <a:prstGeom prst="roundRect">
            <a:avLst>
              <a:gd name="adj" fmla="val 18920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36207" y="7494627"/>
            <a:ext cx="924282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~75% SAVINGS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87693"/>
            <a:ext cx="8655725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Tier 1 — Essential Presence | $3,500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2228" y="1539359"/>
            <a:ext cx="2011204" cy="348853"/>
          </a:xfrm>
          <a:prstGeom prst="roundRect">
            <a:avLst>
              <a:gd name="adj" fmla="val 18775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799148" y="1597819"/>
            <a:ext cx="1777365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Selected by DURO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90825" y="1531739"/>
            <a:ext cx="1690092" cy="364093"/>
          </a:xfrm>
          <a:prstGeom prst="roundRect">
            <a:avLst>
              <a:gd name="adj" fmla="val 17989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15364" y="1597819"/>
            <a:ext cx="1441013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3–4 WEEKS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8310" y="1531739"/>
            <a:ext cx="2677358" cy="364093"/>
          </a:xfrm>
          <a:prstGeom prst="roundRect">
            <a:avLst>
              <a:gd name="adj" fmla="val 17989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2850" y="1597819"/>
            <a:ext cx="2428280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RATE: $10,000–$15,000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2228" y="2084189"/>
            <a:ext cx="1326594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Fast, credible, online in 3–4 weeks.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Get DURO on the map with a professional, high-performance website that establishes your digital presence immediately.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1853" y="2852380"/>
            <a:ext cx="6675953" cy="4789527"/>
          </a:xfrm>
          <a:prstGeom prst="roundRect">
            <a:avLst>
              <a:gd name="adj" fmla="val 2930"/>
            </a:avLst>
          </a:prstGeom>
          <a:solidFill>
            <a:srgbClr val="E32119"/>
          </a:solidFill>
          <a:ln/>
        </p:spPr>
      </p:sp>
      <p:sp>
        <p:nvSpPr>
          <p:cNvPr id="11" name="Text 9"/>
          <p:cNvSpPr/>
          <p:nvPr/>
        </p:nvSpPr>
        <p:spPr>
          <a:xfrm>
            <a:off x="736759" y="301978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Pages Included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6759" y="3491746"/>
            <a:ext cx="6286143" cy="168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6759" y="534304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6759" y="5815013"/>
            <a:ext cx="6286143" cy="98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Mobile-responsive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Lighthouse 90+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AA basics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60588" y="301978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What's Included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560588" y="3491746"/>
            <a:ext cx="6395204" cy="272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project case studies from your existing deck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Capabilities-statement download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form piped to email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SEO — Organization schema, sitemap, robots.txt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Business Profile claim at 5112 11th St NE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SAM.gov / AIA|DC / DSLBD CBE directory refresh checklist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Headless CMS — your team edits without code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30-minute training walkthrough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560588" y="6409492"/>
            <a:ext cx="6395204" cy="1044059"/>
          </a:xfrm>
          <a:prstGeom prst="roundRect">
            <a:avLst>
              <a:gd name="adj" fmla="val 7842"/>
            </a:avLst>
          </a:prstGeom>
          <a:solidFill>
            <a:srgbClr val="C7C9E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5493" y="6695837"/>
            <a:ext cx="243602" cy="19490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194000" y="6625590"/>
            <a:ext cx="556688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is separate via the $159/mo retainer. Upgrade to Tier 2 any time — no rebuild needed.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533995"/>
            <a:ext cx="7107079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Tier 2 — Competitive Parity | $6,400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1812846" y="1256586"/>
            <a:ext cx="1720810" cy="284559"/>
          </a:xfrm>
          <a:prstGeom prst="roundRect">
            <a:avLst>
              <a:gd name="adj" fmla="val 18832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16073" y="1311950"/>
            <a:ext cx="15143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UPGRADE PATH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13309" y="1256586"/>
            <a:ext cx="2252067" cy="284559"/>
          </a:xfrm>
          <a:prstGeom prst="roundRect">
            <a:avLst>
              <a:gd name="adj" fmla="val 18832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16536" y="1311950"/>
            <a:ext cx="204561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RATE: $22,000–$32,000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5029" y="1256586"/>
            <a:ext cx="902613" cy="284559"/>
          </a:xfrm>
          <a:prstGeom prst="roundRect">
            <a:avLst>
              <a:gd name="adj" fmla="val 18832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48256" y="1311950"/>
            <a:ext cx="69615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6–7 WEEKS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12846" y="1667232"/>
            <a:ext cx="1100459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EHT Traceries + Bell Architects. Add AI-search visibility.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Everything in Tier 1, plus the features that put DURO on the competitive map.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812846" y="2010608"/>
            <a:ext cx="5446276" cy="1892737"/>
          </a:xfrm>
          <a:prstGeom prst="roundRect">
            <a:avLst>
              <a:gd name="adj" fmla="val 353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79890" y="2177653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4950B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11454" y="2309217"/>
            <a:ext cx="215265" cy="21526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979890" y="2768084"/>
            <a:ext cx="2210991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8–10 Page Custom Site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979890" y="3084433"/>
            <a:ext cx="5112187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CMS, 8 project case studies with before/after galleries, renderings, and project facts. Dedicated Team page + per-discipline Services pages.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371159" y="2010608"/>
            <a:ext cx="5446276" cy="1892737"/>
          </a:xfrm>
          <a:prstGeom prst="roundRect">
            <a:avLst>
              <a:gd name="adj" fmla="val 353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38204" y="2177653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4950B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9768" y="2309217"/>
            <a:ext cx="215265" cy="21526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538204" y="2768084"/>
            <a:ext cx="2555200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GEO — AI Search Visibility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538204" y="3084433"/>
            <a:ext cx="5112187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so ChatGPT, Perplexity, Claude, and Gemini recommend DURO. The feature that makes this tier transformative.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1812846" y="4015383"/>
            <a:ext cx="5446276" cy="1892737"/>
          </a:xfrm>
          <a:prstGeom prst="roundRect">
            <a:avLst>
              <a:gd name="adj" fmla="val 353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979890" y="4182428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4950B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11454" y="4313992"/>
            <a:ext cx="215265" cy="2152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79890" y="4772858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Insights Hub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1979890" y="5089208"/>
            <a:ext cx="5112187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Seeded with 3 launch articles we write — preservation, net-zero, and DGS procurement. Establishes DURO as a thought leader.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371159" y="4015383"/>
            <a:ext cx="5446276" cy="1892737"/>
          </a:xfrm>
          <a:prstGeom prst="roundRect">
            <a:avLst>
              <a:gd name="adj" fmla="val 353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38204" y="4182428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4950B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9768" y="4313992"/>
            <a:ext cx="215265" cy="21526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38204" y="4772858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SEO + Analytics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7538204" y="5089208"/>
            <a:ext cx="5112187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 research, CreativeWork schema on case studies, Core Web Vitals. Google Analytics 4 + Search Console + monthly analytics emails.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1812846" y="6020157"/>
            <a:ext cx="5446276" cy="1675448"/>
          </a:xfrm>
          <a:prstGeom prst="roundRect">
            <a:avLst>
              <a:gd name="adj" fmla="val 399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979890" y="6187202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4950BC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11454" y="6318766"/>
            <a:ext cx="215265" cy="21526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979890" y="6777633"/>
            <a:ext cx="211431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Appointment Booking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1979890" y="7093982"/>
            <a:ext cx="5112187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Cal.com widget wired to your calendar. Clients book directly from the website.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7371159" y="6020157"/>
            <a:ext cx="5446276" cy="1675448"/>
          </a:xfrm>
          <a:prstGeom prst="roundRect">
            <a:avLst>
              <a:gd name="adj" fmla="val 399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538204" y="6187202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4950BC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69768" y="6318766"/>
            <a:ext cx="215265" cy="21526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538204" y="6777633"/>
            <a:ext cx="2766417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LinkedIn + Content Calendar</a:t>
            </a:r>
            <a:endParaRPr lang="en-US" sz="1550" dirty="0"/>
          </a:p>
        </p:txBody>
      </p:sp>
      <p:sp>
        <p:nvSpPr>
          <p:cNvPr id="39" name="Text 31"/>
          <p:cNvSpPr/>
          <p:nvPr/>
        </p:nvSpPr>
        <p:spPr>
          <a:xfrm>
            <a:off x="7538204" y="7093982"/>
            <a:ext cx="5112187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page setup + 90-day content calendar with 12 posts. Press-kit page with ULI Wavemaker coverage.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544354"/>
            <a:ext cx="5716667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Rate vs. DURO Price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46014" y="1331119"/>
            <a:ext cx="117382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DC agency quotes for a comparable Next.js build. The numbers speak for themselves.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46014" y="1712714"/>
            <a:ext cx="11738253" cy="1249204"/>
          </a:xfrm>
          <a:prstGeom prst="roundRect">
            <a:avLst>
              <a:gd name="adj" fmla="val 572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3774" y="1804392"/>
            <a:ext cx="43453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Type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16742" y="1804392"/>
            <a:ext cx="316920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Quote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33610" y="1804392"/>
            <a:ext cx="317301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DURO Price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23774" y="2218253"/>
            <a:ext cx="43453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5-page Next.js site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16742" y="2218253"/>
            <a:ext cx="316920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$10,000 – $15,000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33610" y="2218253"/>
            <a:ext cx="317301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$3,500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(Tier 1)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23774" y="2632115"/>
            <a:ext cx="43453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10-page site + CMS + GEO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16742" y="2632115"/>
            <a:ext cx="316920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$22,000 – $32,000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33610" y="2632115"/>
            <a:ext cx="317301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$6,400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(Tier 2)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46014" y="3105388"/>
            <a:ext cx="11738253" cy="1091803"/>
          </a:xfrm>
          <a:prstGeom prst="roundRect">
            <a:avLst>
              <a:gd name="adj" fmla="val 6544"/>
            </a:avLst>
          </a:prstGeom>
          <a:solidFill>
            <a:srgbClr val="B6FCB8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035" y="3351967"/>
            <a:ext cx="212646" cy="17002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998702" y="3275409"/>
            <a:ext cx="11015543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simple read: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Tier 1, DURO gets a credible Next.js site that would cost $10,000–$15,000 elsewhere — for $3,500. At Tier 2, a full competitive-parity build with GEO and content that agencies quote at $22,000–$32,000 — for $6,400. Either way, the highest-ROI marketing dollar DURO can spend in 2026.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94340" y="5446395"/>
            <a:ext cx="209240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70%</a:t>
            </a:r>
            <a:endParaRPr lang="en-US" sz="3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788" y="4383167"/>
            <a:ext cx="2551748" cy="25517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77433" y="710493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Tier 1 Savings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1446014" y="7447121"/>
            <a:ext cx="57894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standard DC agency rates for a 5-page Next.js site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9243179" y="5446395"/>
            <a:ext cx="209240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75%</a:t>
            </a:r>
            <a:endParaRPr lang="en-US" sz="33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627" y="4383167"/>
            <a:ext cx="2551748" cy="25517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26272" y="710493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Tier 2 Savings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7394853" y="7447121"/>
            <a:ext cx="57894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standard DC agency rates for a full custom build with GEO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479465"/>
            <a:ext cx="7789069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Partnership Offer — $159/month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23737" y="1288018"/>
            <a:ext cx="119828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Optional. Starts </a:t>
            </a:r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after launch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when DURO is satisfied with the project. Month-to-month. Cancel anytime.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23737" y="1732717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What's Included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737" y="2225040"/>
            <a:ext cx="173593" cy="173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23737" y="2475548"/>
            <a:ext cx="390560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1323737" y="2608064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Hosting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23737" y="2959060"/>
            <a:ext cx="3905607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+ Supabase on our account. Global edge network, automatic SSL, backups. Historically &gt;99.99% uptime.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2218" y="2225040"/>
            <a:ext cx="173593" cy="1735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62218" y="2475548"/>
            <a:ext cx="390572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7"/>
          <p:cNvSpPr/>
          <p:nvPr/>
        </p:nvSpPr>
        <p:spPr>
          <a:xfrm>
            <a:off x="5362218" y="2608064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Fixes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362218" y="2959060"/>
            <a:ext cx="3905726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anything breaks, we fix it. Response within one business day.</a:t>
            </a:r>
            <a:endParaRPr lang="en-US" sz="13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00818" y="2225040"/>
            <a:ext cx="173593" cy="17359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400818" y="2475548"/>
            <a:ext cx="390572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0"/>
          <p:cNvSpPr/>
          <p:nvPr/>
        </p:nvSpPr>
        <p:spPr>
          <a:xfrm>
            <a:off x="9400818" y="2608064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Cybersecurity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9400818" y="2959060"/>
            <a:ext cx="3905726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updates, security patches, monitoring, WAF/CDN protection, vulnerability scans, incident response.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23737" y="4024432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Matters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323737" y="4495086"/>
            <a:ext cx="1198280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agencies ship and disappear. DURO serves public-sector clients where a broken form or security incident at the wrong moment can cost a task-order win.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323737" y="5135166"/>
            <a:ext cx="119828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$159/mo means DURO never thinks about infrastructure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and the site keeps getting better.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1323737" y="5529977"/>
            <a:ext cx="11982807" cy="627936"/>
          </a:xfrm>
          <a:prstGeom prst="roundRect">
            <a:avLst>
              <a:gd name="adj" fmla="val 11616"/>
            </a:avLst>
          </a:prstGeom>
          <a:solidFill>
            <a:srgbClr val="FCF2B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7330" y="5777865"/>
            <a:ext cx="217051" cy="1735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87974" y="5706189"/>
            <a:ext cx="1124497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Excludes: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new features (quoted separately as a small SOW), content writing beyond minor edits.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323737" y="6394252"/>
            <a:ext cx="11982807" cy="573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$150</a:t>
            </a:r>
            <a:endParaRPr lang="en-US" sz="4500" dirty="0"/>
          </a:p>
        </p:txBody>
      </p:sp>
      <p:sp>
        <p:nvSpPr>
          <p:cNvPr id="24" name="Text 18"/>
          <p:cNvSpPr/>
          <p:nvPr/>
        </p:nvSpPr>
        <p:spPr>
          <a:xfrm>
            <a:off x="6229707" y="7153751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 Month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323737" y="7504748"/>
            <a:ext cx="119828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+ Bug Fixes + Cybersecurity. Month-to-month, cancel anytime.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1954" y="399931"/>
            <a:ext cx="3632716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Let's Build.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519839" y="1144667"/>
            <a:ext cx="9808607" cy="571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DURO has selected Tier 1 — Essential Presence ($3,500).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gets DURO online with a credible, fast-loading Next.js site in 3–4 weeks — discoverable by procurement officers, GC teaming partners, and recruits. When DURO is ready, upgrading to Tier 2 adds GEO, thought-leadership content, and full competitive parity — at an incremental cost, no rebuild required.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301954" y="1040011"/>
            <a:ext cx="15240" cy="78116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2301954" y="1960721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01954" y="2327315"/>
            <a:ext cx="581144" cy="871776"/>
          </a:xfrm>
          <a:prstGeom prst="roundRect">
            <a:avLst>
              <a:gd name="adj" fmla="val 36006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83525" y="2654260"/>
            <a:ext cx="217884" cy="2178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76086" y="2472571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SOW + Deposit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976086" y="2755463"/>
            <a:ext cx="9352359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send a short SOW + invoice for the 50% deposit ($1,750)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01954" y="3292078"/>
            <a:ext cx="581144" cy="871776"/>
          </a:xfrm>
          <a:prstGeom prst="roundRect">
            <a:avLst>
              <a:gd name="adj" fmla="val 36006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3525" y="3619024"/>
            <a:ext cx="217884" cy="2178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6086" y="3437334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Kickoff Call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76086" y="3720227"/>
            <a:ext cx="9352359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5 business days of signing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301954" y="4256842"/>
            <a:ext cx="581144" cy="871776"/>
          </a:xfrm>
          <a:prstGeom prst="roundRect">
            <a:avLst>
              <a:gd name="adj" fmla="val 36006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3525" y="4583787"/>
            <a:ext cx="217884" cy="2178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76086" y="4402098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First Design Comp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976086" y="4684990"/>
            <a:ext cx="9352359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in 7–14 days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2301954" y="5221605"/>
            <a:ext cx="581144" cy="871776"/>
          </a:xfrm>
          <a:prstGeom prst="roundRect">
            <a:avLst>
              <a:gd name="adj" fmla="val 36006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83525" y="5548551"/>
            <a:ext cx="217884" cy="2178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976086" y="5366861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Launch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976086" y="5649754"/>
            <a:ext cx="9352359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3–4 weeks. Training and handoff follow immediately.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301954" y="6186368"/>
            <a:ext cx="581144" cy="871776"/>
          </a:xfrm>
          <a:prstGeom prst="roundRect">
            <a:avLst>
              <a:gd name="adj" fmla="val 36006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83525" y="6513314"/>
            <a:ext cx="217884" cy="2178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976086" y="6331625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Partnership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2976086" y="6614517"/>
            <a:ext cx="9352359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$159/month retainer (hosting + bug fixes + cybersecurity) begins at launch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2301954" y="7162800"/>
            <a:ext cx="10026491" cy="666869"/>
          </a:xfrm>
          <a:prstGeom prst="roundRect">
            <a:avLst>
              <a:gd name="adj" fmla="val 9152"/>
            </a:avLst>
          </a:prstGeom>
          <a:solidFill>
            <a:srgbClr val="B6FCB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47211" y="7361992"/>
            <a:ext cx="181570" cy="1452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774037" y="7292102"/>
            <a:ext cx="9409152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SOW in your hands within 24 hours of confirmation.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Livingstone Solution team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2026-04-21T14:59:26Z</dcterms:created>
  <dcterms:modified xsi:type="dcterms:W3CDTF">2026-04-21T14:59:26Z</dcterms:modified>
</cp:coreProperties>
</file>